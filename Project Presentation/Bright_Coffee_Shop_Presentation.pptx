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2A1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E2A1F"/>
                </a:solidFill>
                <a:latin typeface="Georgia"/>
              </a:rPr>
              <a:t>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Choc.</c:v>
                  </c:pt>
                  <c:pt idx="4">
                    <c:v>Coffee 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13607</c:v>
                </c:pt>
                <c:pt idx="6">
                  <c:v>11214</c:v>
                </c:pt>
                <c:pt idx="7">
                  <c:v>8409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F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5E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2A1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E2A1F"/>
                </a:solidFill>
                <a:latin typeface="Georgia"/>
              </a:rPr>
              <a:t>Revenue Share by Daypart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F4E37"/>
              </a:solidFill>
              <a:effectLst/>
            </c:spPr>
          </c:dPt>
          <c:dPt>
            <c:idx val="1"/>
            <c:bubble3D val="0"/>
            <c:spPr>
              <a:solidFill>
                <a:srgbClr val="B5895C"/>
              </a:solidFill>
              <a:effectLst/>
            </c:spPr>
          </c:dPt>
          <c:dPt>
            <c:idx val="2"/>
            <c:bubble3D val="0"/>
            <c:spPr>
              <a:solidFill>
                <a:srgbClr val="C974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388289</c:v>
                </c:pt>
                <c:pt idx="1">
                  <c:v>204721</c:v>
                </c:pt>
                <c:pt idx="2">
                  <c:v>105803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1F1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2A1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E2A1F"/>
                </a:solidFill>
                <a:latin typeface="Georgia"/>
              </a:rPr>
              <a:t>Top 10 Revenue-Generating Products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7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Sustainably Grown Org. Lg</c:v>
                  </c:pt>
                  <c:pt idx="1">
                    <c:v>Dark Chocolate Lg</c:v>
                  </c:pt>
                  <c:pt idx="2">
                    <c:v>Latte Rg</c:v>
                  </c:pt>
                  <c:pt idx="3">
                    <c:v>Cappuccino Lg</c:v>
                  </c:pt>
                  <c:pt idx="4">
                    <c:v>Morning Sunrise Chai Lg</c:v>
                  </c:pt>
                  <c:pt idx="5">
                    <c:v>Latte</c:v>
                  </c:pt>
                  <c:pt idx="6">
                    <c:v>Jamaican Coffee River Lg</c:v>
                  </c:pt>
                  <c:pt idx="7">
                    <c:v>Sustainably Grown Org. Rg</c:v>
                  </c:pt>
                  <c:pt idx="8">
                    <c:v>Cappuccino</c:v>
                  </c:pt>
                  <c:pt idx="9">
                    <c:v>Brazilian Lg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21152</c:v>
                </c:pt>
                <c:pt idx="1">
                  <c:v>21006</c:v>
                </c:pt>
                <c:pt idx="2">
                  <c:v>19112</c:v>
                </c:pt>
                <c:pt idx="3">
                  <c:v>17642</c:v>
                </c:pt>
                <c:pt idx="4">
                  <c:v>17384</c:v>
                </c:pt>
                <c:pt idx="5">
                  <c:v>17258</c:v>
                </c:pt>
                <c:pt idx="6">
                  <c:v>16481</c:v>
                </c:pt>
                <c:pt idx="7">
                  <c:v>16234</c:v>
                </c:pt>
                <c:pt idx="8">
                  <c:v>15998</c:v>
                </c:pt>
                <c:pt idx="9">
                  <c:v>15110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F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5E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2A1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E2A1F"/>
                </a:solidFill>
                <a:latin typeface="Georgia"/>
              </a:rPr>
              <a:t>Monthly Revenue Trend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744A"/>
            </a:solidFill>
            <a:ln w="38100" cap="flat">
              <a:solidFill>
                <a:srgbClr val="C974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744A"/>
              </a:solidFill>
              <a:ln w="9525" cap="flat">
                <a:solidFill>
                  <a:srgbClr val="C974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F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5E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2A1F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E2A1F"/>
                </a:solidFill>
                <a:latin typeface="Georgia"/>
              </a:rPr>
              <a:t>Revenue by Daypart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388289</c:v>
                </c:pt>
                <c:pt idx="1">
                  <c:v>204721</c:v>
                </c:pt>
                <c:pt idx="2">
                  <c:v>105803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F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9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5E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C974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B589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1E7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 &amp; Recommendations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1097280" cy="0"/>
          </a:xfrm>
          <a:prstGeom prst="line">
            <a:avLst/>
          </a:prstGeom>
          <a:noFill/>
          <a:ln w="38100">
            <a:solidFill>
              <a:srgbClr val="C97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·  Junior Data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January – June 2023  |  3 store locations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transaction data into growth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Revenue Drivers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468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products and categories generate the highest share of revenue.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◷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5236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Peak Sales Times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2468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demand across hours and days to optimize operations and staffing.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06240"/>
            <a:ext cx="777240" cy="7772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7452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Product Performance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663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best- and worst-selling items across our menu portfolio.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777240" cy="7772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45236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 Growth Actions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4663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prioritized initiatives for the leadership team.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analysis was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0" cy="4297680"/>
          </a:xfrm>
          <a:prstGeom prst="line">
            <a:avLst/>
          </a:prstGeom>
          <a:noFill/>
          <a:ln w="25400">
            <a:solidFill>
              <a:srgbClr val="B58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C9744A"/>
          </a:solidFill>
          <a:ln w="38100">
            <a:solidFill>
              <a:srgbClr val="FAF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63,796 transaction records sourced from POS export across 3 NYC store locations.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C9744A"/>
          </a:solidFill>
          <a:ln w="38100">
            <a:solidFill>
              <a:srgbClr val="FAF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in 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986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fields, validated date ranges, removed test transactions.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C9744A"/>
          </a:solidFill>
          <a:ln w="38100">
            <a:solidFill>
              <a:srgbClr val="FAF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Calculated Fields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813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total_amount = unit_price × transaction_qty; derived day, hour, and spend buckets.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C9744A"/>
          </a:solidFill>
          <a:ln w="38100">
            <a:solidFill>
              <a:srgbClr val="FAF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Bucketing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727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transactions into Morning, Afternoon, and Evening intervals.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349240"/>
            <a:ext cx="457200" cy="457200"/>
          </a:xfrm>
          <a:prstGeom prst="ellipse">
            <a:avLst/>
          </a:prstGeom>
          <a:solidFill>
            <a:srgbClr val="C9744A"/>
          </a:solidFill>
          <a:ln w="38100">
            <a:solidFill>
              <a:srgbClr val="FAF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641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executive dashboards with category, time, and store-level cuts.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snapshot — H1 2023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3E2A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27632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$698.8K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3E2A1F"/>
          </a:solidFill>
          <a:ln/>
        </p:spPr>
      </p:sp>
      <p:sp>
        <p:nvSpPr>
          <p:cNvPr id="9" name="Text 7"/>
          <p:cNvSpPr/>
          <p:nvPr/>
        </p:nvSpPr>
        <p:spPr>
          <a:xfrm>
            <a:off x="3319272" y="1627632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19272" y="22860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9272" y="25786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stores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3E2A1F"/>
          </a:solidFill>
          <a:ln/>
        </p:spPr>
      </p:sp>
      <p:sp>
        <p:nvSpPr>
          <p:cNvPr id="13" name="Text 11"/>
          <p:cNvSpPr/>
          <p:nvPr/>
        </p:nvSpPr>
        <p:spPr>
          <a:xfrm>
            <a:off x="6181344" y="1627632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81344" y="22860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1344" y="25786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3E2A1F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1627632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43416" y="22860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43416" y="25786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→ Jun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20040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7040880" y="32004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REVENUE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comes from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858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206240" cy="4846320"/>
          </a:xfrm>
          <a:prstGeom prst="roundRect">
            <a:avLst>
              <a:gd name="adj" fmla="val 2174"/>
            </a:avLst>
          </a:prstGeom>
          <a:solidFill>
            <a:srgbClr val="F1E7D4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8120" y="2194560"/>
            <a:ext cx="54864" cy="77724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leads at 39%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2468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revenue, followed by Tea at 28%.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3200400"/>
            <a:ext cx="54864" cy="77724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sizes dominate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0100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top 10 products are large-format servings.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4206240"/>
            <a:ext cx="54864" cy="77724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Top-10 = ~25% of revenue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01000" y="4480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product mix drives most sales.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18120" y="5212080"/>
            <a:ext cx="54864" cy="77724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organics win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01000" y="5486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is the #1 product line.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TIME-BASED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customers buy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132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4434840"/>
          <a:ext cx="7132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818120" y="1554480"/>
            <a:ext cx="4023360" cy="4892040"/>
          </a:xfrm>
          <a:prstGeom prst="roundRect">
            <a:avLst>
              <a:gd name="adj" fmla="val 2273"/>
            </a:avLst>
          </a:prstGeom>
          <a:solidFill>
            <a:srgbClr val="3E2A1F"/>
          </a:solidFill>
          <a:ln/>
        </p:spPr>
      </p:sp>
      <p:sp>
        <p:nvSpPr>
          <p:cNvPr id="7" name="Text 3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WIN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046720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0467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is generated in the morning daypart.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46720" y="3383280"/>
            <a:ext cx="914400" cy="0"/>
          </a:xfrm>
          <a:prstGeom prst="line">
            <a:avLst/>
          </a:prstGeom>
          <a:noFill/>
          <a:ln w="25400">
            <a:solidFill>
              <a:srgbClr val="C974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0" y="3520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+104%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8046720" y="4160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lift from February to June — strong upward momentum.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4892040"/>
            <a:ext cx="914400" cy="0"/>
          </a:xfrm>
          <a:prstGeom prst="line">
            <a:avLst/>
          </a:prstGeom>
          <a:noFill/>
          <a:ln w="25400">
            <a:solidFill>
              <a:srgbClr val="C974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window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046720" y="5349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(after 5pm) contributes only 15% — clear promotional opportunity.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PRODUCT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Winners, laggards, and the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by revenue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Lg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F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$21,152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 Lg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F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$21,006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0690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Rg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F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$19,112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 Lg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F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$17,642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54406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Sunrise Chai Lg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5349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F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$17,384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155448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5 by revenue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0" y="26974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 (Sm)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87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79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3832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 Grey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870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79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$1,271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0" y="40690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 Eye Opener Chai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2870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79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$1,336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83680" y="47548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8660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Guatemalan Sustainably Grown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87000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79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$1,340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0" y="5440680"/>
            <a:ext cx="365760" cy="36576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8660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Grass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287000" y="5349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79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$1,360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 to accelerate revenue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109728" cy="210312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the Evening Daypart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happy-hour pricing and targeted ads from 5–8pm to lift the lowest-revenue window (15% share).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109728" cy="210312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057400"/>
            <a:ext cx="868680" cy="86868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57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 Underperformers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9520" y="25603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bottom-5 SKUs with bestsellers, refresh menu placement, or sunset items that fail to recover.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23360"/>
            <a:ext cx="109728" cy="210312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389120"/>
            <a:ext cx="868680" cy="86868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89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92024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Smart for Demand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4892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of large-format coffees and chai — they drive 8 of the top 10 revenue lines.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023360"/>
            <a:ext cx="109728" cy="2103120"/>
          </a:xfrm>
          <a:prstGeom prst="rect">
            <a:avLst/>
          </a:prstGeom>
          <a:solidFill>
            <a:srgbClr val="C974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4389120"/>
            <a:ext cx="868680" cy="86868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389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♟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58952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Morning Staffing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89520" y="4892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baristas during morning peak when 56% of daily revenue is earned.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338560" cy="1463040"/>
          </a:xfrm>
          <a:prstGeom prst="roundRect">
            <a:avLst>
              <a:gd name="adj" fmla="val 6250"/>
            </a:avLst>
          </a:prstGeom>
          <a:solidFill>
            <a:srgbClr val="3E2A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H2 lift if recommendations are executed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+8–12%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 — from evening activation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— via demand-led inventory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pts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4672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— from optimized peak staffing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3520440"/>
            <a:ext cx="1005840" cy="10058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1755648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promotions in the evening and weekend slow windows convert idle capacity into incremental sales.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0408" y="3520440"/>
            <a:ext cx="1005840" cy="10058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19" name="Text 17"/>
          <p:cNvSpPr/>
          <p:nvPr/>
        </p:nvSpPr>
        <p:spPr>
          <a:xfrm>
            <a:off x="5550408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434840" y="4617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Inventory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50749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Demand-aligned ordering reduces waste on slow SKUs and prevents stock-outs on top sellers.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1E7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45168" y="3520440"/>
            <a:ext cx="1005840" cy="1005840"/>
          </a:xfrm>
          <a:prstGeom prst="ellipse">
            <a:avLst/>
          </a:prstGeom>
          <a:solidFill>
            <a:srgbClr val="F1E7D4"/>
          </a:solidFill>
          <a:ln/>
        </p:spPr>
      </p:sp>
      <p:sp>
        <p:nvSpPr>
          <p:cNvPr id="24" name="Text 22"/>
          <p:cNvSpPr/>
          <p:nvPr/>
        </p:nvSpPr>
        <p:spPr>
          <a:xfrm>
            <a:off x="9345168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229600" y="4617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Experience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50749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staffing during peaks shortens wait times and improves satisfaction scores.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3E2A1F"/>
          </a:solidFill>
          <a:ln w="12700">
            <a:solidFill>
              <a:srgbClr val="3E2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•  Sales Analysis 2023 H1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647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C9744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8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6F4E37">
              <a:alpha val="70000"/>
            </a:srgbClr>
          </a:solidFill>
          <a:ln w="12700">
            <a:solidFill>
              <a:srgbClr val="B58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Daily Reporting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SQL refresh + dashboard delivery to leadership inboxes every morning.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6F4E37">
              <a:alpha val="70000"/>
            </a:srgbClr>
          </a:solidFill>
          <a:ln w="12700">
            <a:solidFill>
              <a:srgbClr val="B58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57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28800" y="36576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Multi-Location Tracking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4069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comparable KPIs across all 3 stores; benchmark performance weekly.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6F4E37">
              <a:alpha val="70000"/>
            </a:srgbClr>
          </a:solidFill>
          <a:ln w="12700">
            <a:solidFill>
              <a:srgbClr val="B58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37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49377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Loyalty 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5349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first-party data to personalize offers and lift visit frequency.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217920"/>
            <a:ext cx="1371600" cy="0"/>
          </a:xfrm>
          <a:prstGeom prst="line">
            <a:avLst/>
          </a:prstGeom>
          <a:noFill/>
          <a:ln w="38100">
            <a:solidFill>
              <a:srgbClr val="C97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E7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2026-04-23T23:30:04Z</dcterms:created>
  <dcterms:modified xsi:type="dcterms:W3CDTF">2026-04-23T23:30:04Z</dcterms:modified>
</cp:coreProperties>
</file>